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69091F2-28C8-4D41-B04E-873EB3C887B5}">
          <p14:sldIdLst>
            <p14:sldId id="256"/>
            <p14:sldId id="257"/>
            <p14:sldId id="258"/>
            <p14:sldId id="259"/>
            <p14:sldId id="260"/>
            <p14:sldId id="261"/>
          </p14:sldIdLst>
        </p14:section>
        <p14:section name="Random Forest" id="{FB098C8B-8C22-43BF-8413-7EC14FA4C8B4}">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F2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74DB7-50F1-6C92-CD1E-DC3D8F000383}"/>
              </a:ext>
            </a:extLst>
          </p:cNvPr>
          <p:cNvSpPr>
            <a:spLocks noGrp="1"/>
          </p:cNvSpPr>
          <p:nvPr>
            <p:ph type="ctrTitle"/>
          </p:nvPr>
        </p:nvSpPr>
        <p:spPr>
          <a:xfrm>
            <a:off x="1524000" y="1122363"/>
            <a:ext cx="9144000" cy="2387600"/>
          </a:xfrm>
        </p:spPr>
        <p:txBody>
          <a:bodyPr anchor="b"/>
          <a:lstStyle>
            <a:lvl1pPr algn="ctr">
              <a:defRPr sz="6000"/>
            </a:lvl1pPr>
          </a:lstStyle>
          <a:p>
            <a:r>
              <a:rPr lang="en-US" altLang="zh-TW"/>
              <a:t>Click to edit Master title style</a:t>
            </a:r>
            <a:endParaRPr lang="zh-TW" altLang="en-US"/>
          </a:p>
        </p:txBody>
      </p:sp>
      <p:sp>
        <p:nvSpPr>
          <p:cNvPr id="3" name="Subtitle 2">
            <a:extLst>
              <a:ext uri="{FF2B5EF4-FFF2-40B4-BE49-F238E27FC236}">
                <a16:creationId xmlns:a16="http://schemas.microsoft.com/office/drawing/2014/main" id="{E0DD48A4-A5C0-637F-2481-7CFCD82A2A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TW"/>
              <a:t>Click to edit Master subtitle style</a:t>
            </a:r>
            <a:endParaRPr lang="zh-TW" altLang="en-US"/>
          </a:p>
        </p:txBody>
      </p:sp>
      <p:sp>
        <p:nvSpPr>
          <p:cNvPr id="4" name="Date Placeholder 3">
            <a:extLst>
              <a:ext uri="{FF2B5EF4-FFF2-40B4-BE49-F238E27FC236}">
                <a16:creationId xmlns:a16="http://schemas.microsoft.com/office/drawing/2014/main" id="{C78513A5-ABD8-C756-85C1-281B2045A6A9}"/>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5" name="Footer Placeholder 4">
            <a:extLst>
              <a:ext uri="{FF2B5EF4-FFF2-40B4-BE49-F238E27FC236}">
                <a16:creationId xmlns:a16="http://schemas.microsoft.com/office/drawing/2014/main" id="{5752F915-1120-9059-0A3E-A22D2C67E35B}"/>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835DCE3C-2FB7-0C36-ED5E-64FDCF2685FD}"/>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3360579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8E484-0BFF-B39C-B9C7-7362335C224F}"/>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7D3A4570-B8FB-DF16-B79F-65037898031D}"/>
              </a:ext>
            </a:extLst>
          </p:cNvPr>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621201BB-B422-5364-2A51-FC03C429BF5D}"/>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5" name="Footer Placeholder 4">
            <a:extLst>
              <a:ext uri="{FF2B5EF4-FFF2-40B4-BE49-F238E27FC236}">
                <a16:creationId xmlns:a16="http://schemas.microsoft.com/office/drawing/2014/main" id="{D8ACA042-FEF6-A2BD-5BEA-651F97EEC090}"/>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AE384BA3-63C0-3625-F919-6ECEE7B20EAB}"/>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3574377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F5C4B-E79F-5591-10BF-A7D17C1A2FB4}"/>
              </a:ext>
            </a:extLst>
          </p:cNvPr>
          <p:cNvSpPr>
            <a:spLocks noGrp="1"/>
          </p:cNvSpPr>
          <p:nvPr>
            <p:ph type="title"/>
          </p:nvPr>
        </p:nvSpPr>
        <p:spPr>
          <a:xfrm>
            <a:off x="831850" y="1709738"/>
            <a:ext cx="10515600" cy="2852737"/>
          </a:xfrm>
        </p:spPr>
        <p:txBody>
          <a:bodyPr anchor="b"/>
          <a:lstStyle>
            <a:lvl1pPr>
              <a:defRPr sz="6000"/>
            </a:lvl1p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1600D1B6-B840-FAEE-8AAA-C2769C023C8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TW"/>
              <a:t>Click to edit Master text styles</a:t>
            </a:r>
          </a:p>
        </p:txBody>
      </p:sp>
      <p:sp>
        <p:nvSpPr>
          <p:cNvPr id="4" name="Date Placeholder 3">
            <a:extLst>
              <a:ext uri="{FF2B5EF4-FFF2-40B4-BE49-F238E27FC236}">
                <a16:creationId xmlns:a16="http://schemas.microsoft.com/office/drawing/2014/main" id="{8E323DD7-B9C8-3EA1-543F-EA77D3332C84}"/>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5" name="Footer Placeholder 4">
            <a:extLst>
              <a:ext uri="{FF2B5EF4-FFF2-40B4-BE49-F238E27FC236}">
                <a16:creationId xmlns:a16="http://schemas.microsoft.com/office/drawing/2014/main" id="{C59DF179-CA28-86CA-4000-5E3079189BCF}"/>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DD255C71-B223-92C3-408C-3B12E3267D0B}"/>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3633929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09FAA-D003-1F3A-FA21-BD32ED83E5BA}"/>
              </a:ext>
            </a:extLst>
          </p:cNvPr>
          <p:cNvSpPr>
            <a:spLocks noGrp="1"/>
          </p:cNvSpPr>
          <p:nvPr>
            <p:ph type="title"/>
          </p:nvPr>
        </p:nvSpPr>
        <p:spPr/>
        <p:txBody>
          <a:body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BC21F0E1-5059-B95A-E695-5D22A36E380D}"/>
              </a:ext>
            </a:extLst>
          </p:cNvPr>
          <p:cNvSpPr>
            <a:spLocks noGrp="1"/>
          </p:cNvSpPr>
          <p:nvPr>
            <p:ph sz="half" idx="1"/>
          </p:nvPr>
        </p:nvSpPr>
        <p:spPr>
          <a:xfrm>
            <a:off x="838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Content Placeholder 3">
            <a:extLst>
              <a:ext uri="{FF2B5EF4-FFF2-40B4-BE49-F238E27FC236}">
                <a16:creationId xmlns:a16="http://schemas.microsoft.com/office/drawing/2014/main" id="{F017B5F8-BEA5-82B1-91F0-5294D348FDC6}"/>
              </a:ext>
            </a:extLst>
          </p:cNvPr>
          <p:cNvSpPr>
            <a:spLocks noGrp="1"/>
          </p:cNvSpPr>
          <p:nvPr>
            <p:ph sz="half" idx="2"/>
          </p:nvPr>
        </p:nvSpPr>
        <p:spPr>
          <a:xfrm>
            <a:off x="6172200" y="1825625"/>
            <a:ext cx="5181600" cy="435133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Date Placeholder 4">
            <a:extLst>
              <a:ext uri="{FF2B5EF4-FFF2-40B4-BE49-F238E27FC236}">
                <a16:creationId xmlns:a16="http://schemas.microsoft.com/office/drawing/2014/main" id="{6A4454D1-3116-3F96-7D65-5D11CB3DDAD4}"/>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6" name="Footer Placeholder 5">
            <a:extLst>
              <a:ext uri="{FF2B5EF4-FFF2-40B4-BE49-F238E27FC236}">
                <a16:creationId xmlns:a16="http://schemas.microsoft.com/office/drawing/2014/main" id="{9D4BFB29-15B1-A562-ED72-ED92B18C1AB9}"/>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C3B0CC22-8CBC-8599-A9BE-CBBC1F9515C3}"/>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415103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8DDEF-8BC1-1E9B-5F35-6BDFC859BB7D}"/>
              </a:ext>
            </a:extLst>
          </p:cNvPr>
          <p:cNvSpPr>
            <a:spLocks noGrp="1"/>
          </p:cNvSpPr>
          <p:nvPr>
            <p:ph type="title"/>
          </p:nvPr>
        </p:nvSpPr>
        <p:spPr>
          <a:xfrm>
            <a:off x="839788" y="365125"/>
            <a:ext cx="10515600" cy="1325563"/>
          </a:xfrm>
        </p:spPr>
        <p:txBody>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73B3F19C-9663-71E3-9F4A-621F2C53BF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a:extLst>
              <a:ext uri="{FF2B5EF4-FFF2-40B4-BE49-F238E27FC236}">
                <a16:creationId xmlns:a16="http://schemas.microsoft.com/office/drawing/2014/main" id="{38B05A6E-702F-0E16-80AF-7FB32B4AEB0D}"/>
              </a:ext>
            </a:extLst>
          </p:cNvPr>
          <p:cNvSpPr>
            <a:spLocks noGrp="1"/>
          </p:cNvSpPr>
          <p:nvPr>
            <p:ph sz="half" idx="2"/>
          </p:nvPr>
        </p:nvSpPr>
        <p:spPr>
          <a:xfrm>
            <a:off x="839788" y="2505075"/>
            <a:ext cx="5157787"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5" name="Text Placeholder 4">
            <a:extLst>
              <a:ext uri="{FF2B5EF4-FFF2-40B4-BE49-F238E27FC236}">
                <a16:creationId xmlns:a16="http://schemas.microsoft.com/office/drawing/2014/main" id="{3C0198C6-7C65-E9FB-1586-5D04CB0C72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a:extLst>
              <a:ext uri="{FF2B5EF4-FFF2-40B4-BE49-F238E27FC236}">
                <a16:creationId xmlns:a16="http://schemas.microsoft.com/office/drawing/2014/main" id="{DAA01659-E6A9-E92F-9314-B221F1CB9B6B}"/>
              </a:ext>
            </a:extLst>
          </p:cNvPr>
          <p:cNvSpPr>
            <a:spLocks noGrp="1"/>
          </p:cNvSpPr>
          <p:nvPr>
            <p:ph sz="quarter" idx="4"/>
          </p:nvPr>
        </p:nvSpPr>
        <p:spPr>
          <a:xfrm>
            <a:off x="6172200" y="2505075"/>
            <a:ext cx="5183188" cy="3684588"/>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Date Placeholder 6">
            <a:extLst>
              <a:ext uri="{FF2B5EF4-FFF2-40B4-BE49-F238E27FC236}">
                <a16:creationId xmlns:a16="http://schemas.microsoft.com/office/drawing/2014/main" id="{6976EF89-5465-1126-B3FD-9C7AD61F7643}"/>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8" name="Footer Placeholder 7">
            <a:extLst>
              <a:ext uri="{FF2B5EF4-FFF2-40B4-BE49-F238E27FC236}">
                <a16:creationId xmlns:a16="http://schemas.microsoft.com/office/drawing/2014/main" id="{72281AB0-CC3E-FDDE-B97D-DB5F5342CA42}"/>
              </a:ext>
            </a:extLst>
          </p:cNvPr>
          <p:cNvSpPr>
            <a:spLocks noGrp="1"/>
          </p:cNvSpPr>
          <p:nvPr>
            <p:ph type="ftr" sz="quarter" idx="11"/>
          </p:nvPr>
        </p:nvSpPr>
        <p:spPr/>
        <p:txBody>
          <a:bodyPr/>
          <a:lstStyle/>
          <a:p>
            <a:endParaRPr lang="zh-TW" altLang="en-US"/>
          </a:p>
        </p:txBody>
      </p:sp>
      <p:sp>
        <p:nvSpPr>
          <p:cNvPr id="9" name="Slide Number Placeholder 8">
            <a:extLst>
              <a:ext uri="{FF2B5EF4-FFF2-40B4-BE49-F238E27FC236}">
                <a16:creationId xmlns:a16="http://schemas.microsoft.com/office/drawing/2014/main" id="{C61C4633-717B-E519-AC54-BE10BA78C312}"/>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1263853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6DD8-B76E-2C15-E750-2E05796EC505}"/>
              </a:ext>
            </a:extLst>
          </p:cNvPr>
          <p:cNvSpPr>
            <a:spLocks noGrp="1"/>
          </p:cNvSpPr>
          <p:nvPr>
            <p:ph type="title"/>
          </p:nvPr>
        </p:nvSpPr>
        <p:spPr/>
        <p:txBody>
          <a:bodyPr/>
          <a:lstStyle/>
          <a:p>
            <a:r>
              <a:rPr lang="en-US" altLang="zh-TW"/>
              <a:t>Click to edit Master title style</a:t>
            </a:r>
            <a:endParaRPr lang="zh-TW" altLang="en-US"/>
          </a:p>
        </p:txBody>
      </p:sp>
      <p:sp>
        <p:nvSpPr>
          <p:cNvPr id="3" name="Date Placeholder 2">
            <a:extLst>
              <a:ext uri="{FF2B5EF4-FFF2-40B4-BE49-F238E27FC236}">
                <a16:creationId xmlns:a16="http://schemas.microsoft.com/office/drawing/2014/main" id="{0809685C-D885-FBCA-040D-9E35C239D7C1}"/>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4" name="Footer Placeholder 3">
            <a:extLst>
              <a:ext uri="{FF2B5EF4-FFF2-40B4-BE49-F238E27FC236}">
                <a16:creationId xmlns:a16="http://schemas.microsoft.com/office/drawing/2014/main" id="{53F67027-DFFE-F53C-1299-99F5256F6952}"/>
              </a:ext>
            </a:extLst>
          </p:cNvPr>
          <p:cNvSpPr>
            <a:spLocks noGrp="1"/>
          </p:cNvSpPr>
          <p:nvPr>
            <p:ph type="ftr" sz="quarter" idx="11"/>
          </p:nvPr>
        </p:nvSpPr>
        <p:spPr/>
        <p:txBody>
          <a:bodyPr/>
          <a:lstStyle/>
          <a:p>
            <a:endParaRPr lang="zh-TW" altLang="en-US"/>
          </a:p>
        </p:txBody>
      </p:sp>
      <p:sp>
        <p:nvSpPr>
          <p:cNvPr id="5" name="Slide Number Placeholder 4">
            <a:extLst>
              <a:ext uri="{FF2B5EF4-FFF2-40B4-BE49-F238E27FC236}">
                <a16:creationId xmlns:a16="http://schemas.microsoft.com/office/drawing/2014/main" id="{3D02E9B9-91EC-F318-8912-1B506B79F139}"/>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3407677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2197F4-1921-E22B-D28C-2C7FFFFDDC60}"/>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3" name="Footer Placeholder 2">
            <a:extLst>
              <a:ext uri="{FF2B5EF4-FFF2-40B4-BE49-F238E27FC236}">
                <a16:creationId xmlns:a16="http://schemas.microsoft.com/office/drawing/2014/main" id="{50A1D1E0-D064-2E2F-02E3-B57183B0BB53}"/>
              </a:ext>
            </a:extLst>
          </p:cNvPr>
          <p:cNvSpPr>
            <a:spLocks noGrp="1"/>
          </p:cNvSpPr>
          <p:nvPr>
            <p:ph type="ftr" sz="quarter" idx="11"/>
          </p:nvPr>
        </p:nvSpPr>
        <p:spPr/>
        <p:txBody>
          <a:bodyPr/>
          <a:lstStyle/>
          <a:p>
            <a:endParaRPr lang="zh-TW" altLang="en-US"/>
          </a:p>
        </p:txBody>
      </p:sp>
      <p:sp>
        <p:nvSpPr>
          <p:cNvPr id="4" name="Slide Number Placeholder 3">
            <a:extLst>
              <a:ext uri="{FF2B5EF4-FFF2-40B4-BE49-F238E27FC236}">
                <a16:creationId xmlns:a16="http://schemas.microsoft.com/office/drawing/2014/main" id="{80F22A1F-067F-F2DC-80F9-A904D47559F2}"/>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736365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D2AC6-CE64-D675-90F8-4BDDA2FFE354}"/>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Content Placeholder 2">
            <a:extLst>
              <a:ext uri="{FF2B5EF4-FFF2-40B4-BE49-F238E27FC236}">
                <a16:creationId xmlns:a16="http://schemas.microsoft.com/office/drawing/2014/main" id="{2B386CE7-E176-83DB-0EFB-D3ECAA25B8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Text Placeholder 3">
            <a:extLst>
              <a:ext uri="{FF2B5EF4-FFF2-40B4-BE49-F238E27FC236}">
                <a16:creationId xmlns:a16="http://schemas.microsoft.com/office/drawing/2014/main" id="{51445DBC-0C36-BEA9-8FFB-7098BE0DB1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8874E8FB-83F8-B0E5-CD1A-2398EA92FB56}"/>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6" name="Footer Placeholder 5">
            <a:extLst>
              <a:ext uri="{FF2B5EF4-FFF2-40B4-BE49-F238E27FC236}">
                <a16:creationId xmlns:a16="http://schemas.microsoft.com/office/drawing/2014/main" id="{14173451-BECB-24FD-4985-83526BD7916B}"/>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D22291A4-5E6C-FFE6-1F44-BB2A3EBBC02F}"/>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2881199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C44D4-29C9-3BC8-3923-06BBB3EBE3F7}"/>
              </a:ext>
            </a:extLst>
          </p:cNvPr>
          <p:cNvSpPr>
            <a:spLocks noGrp="1"/>
          </p:cNvSpPr>
          <p:nvPr>
            <p:ph type="title"/>
          </p:nvPr>
        </p:nvSpPr>
        <p:spPr>
          <a:xfrm>
            <a:off x="839788" y="457200"/>
            <a:ext cx="3932237" cy="1600200"/>
          </a:xfrm>
        </p:spPr>
        <p:txBody>
          <a:bodyPr anchor="b"/>
          <a:lstStyle>
            <a:lvl1pPr>
              <a:defRPr sz="3200"/>
            </a:lvl1pPr>
          </a:lstStyle>
          <a:p>
            <a:r>
              <a:rPr lang="en-US" altLang="zh-TW"/>
              <a:t>Click to edit Master title style</a:t>
            </a:r>
            <a:endParaRPr lang="zh-TW" altLang="en-US"/>
          </a:p>
        </p:txBody>
      </p:sp>
      <p:sp>
        <p:nvSpPr>
          <p:cNvPr id="3" name="Picture Placeholder 2">
            <a:extLst>
              <a:ext uri="{FF2B5EF4-FFF2-40B4-BE49-F238E27FC236}">
                <a16:creationId xmlns:a16="http://schemas.microsoft.com/office/drawing/2014/main" id="{8E908BBE-7812-B66C-B5F5-2CA37FD3B2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Text Placeholder 3">
            <a:extLst>
              <a:ext uri="{FF2B5EF4-FFF2-40B4-BE49-F238E27FC236}">
                <a16:creationId xmlns:a16="http://schemas.microsoft.com/office/drawing/2014/main" id="{11348479-7FD6-9166-FD58-BFCD15DBB9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TW"/>
              <a:t>Click to edit Master text styles</a:t>
            </a:r>
          </a:p>
        </p:txBody>
      </p:sp>
      <p:sp>
        <p:nvSpPr>
          <p:cNvPr id="5" name="Date Placeholder 4">
            <a:extLst>
              <a:ext uri="{FF2B5EF4-FFF2-40B4-BE49-F238E27FC236}">
                <a16:creationId xmlns:a16="http://schemas.microsoft.com/office/drawing/2014/main" id="{5F033081-0CC7-57C7-B4E4-002861E875D8}"/>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6" name="Footer Placeholder 5">
            <a:extLst>
              <a:ext uri="{FF2B5EF4-FFF2-40B4-BE49-F238E27FC236}">
                <a16:creationId xmlns:a16="http://schemas.microsoft.com/office/drawing/2014/main" id="{BED4DD4C-DC53-63F7-5249-FC7461F1EBB1}"/>
              </a:ext>
            </a:extLst>
          </p:cNvPr>
          <p:cNvSpPr>
            <a:spLocks noGrp="1"/>
          </p:cNvSpPr>
          <p:nvPr>
            <p:ph type="ftr" sz="quarter" idx="11"/>
          </p:nvPr>
        </p:nvSpPr>
        <p:spPr/>
        <p:txBody>
          <a:bodyPr/>
          <a:lstStyle/>
          <a:p>
            <a:endParaRPr lang="zh-TW" altLang="en-US"/>
          </a:p>
        </p:txBody>
      </p:sp>
      <p:sp>
        <p:nvSpPr>
          <p:cNvPr id="7" name="Slide Number Placeholder 6">
            <a:extLst>
              <a:ext uri="{FF2B5EF4-FFF2-40B4-BE49-F238E27FC236}">
                <a16:creationId xmlns:a16="http://schemas.microsoft.com/office/drawing/2014/main" id="{A763BE7D-7D5F-FD18-4FE5-20CA408028AF}"/>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1198823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F6848-ADF6-30AA-3B32-2892C74CA26E}"/>
              </a:ext>
            </a:extLst>
          </p:cNvPr>
          <p:cNvSpPr>
            <a:spLocks noGrp="1"/>
          </p:cNvSpPr>
          <p:nvPr>
            <p:ph type="title"/>
          </p:nvPr>
        </p:nvSpPr>
        <p:spPr/>
        <p:txBody>
          <a:bodyPr/>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52957078-FB47-9336-BD8D-800B0AAD465D}"/>
              </a:ext>
            </a:extLst>
          </p:cNvPr>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FD4ED36F-C69D-B754-9F55-6A57092025A9}"/>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5" name="Footer Placeholder 4">
            <a:extLst>
              <a:ext uri="{FF2B5EF4-FFF2-40B4-BE49-F238E27FC236}">
                <a16:creationId xmlns:a16="http://schemas.microsoft.com/office/drawing/2014/main" id="{FA679DA8-8BAA-4552-EC6F-CEB496361E60}"/>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F758C61E-3766-739B-B223-CA0C1EEAD2EC}"/>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183164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D8552A8-C612-759A-8EF7-5A87AFDDC754}"/>
              </a:ext>
            </a:extLst>
          </p:cNvPr>
          <p:cNvSpPr>
            <a:spLocks noGrp="1"/>
          </p:cNvSpPr>
          <p:nvPr>
            <p:ph type="title" orient="vert"/>
          </p:nvPr>
        </p:nvSpPr>
        <p:spPr>
          <a:xfrm>
            <a:off x="8724900" y="365125"/>
            <a:ext cx="2628900" cy="5811838"/>
          </a:xfrm>
        </p:spPr>
        <p:txBody>
          <a:bodyPr vert="eaVert"/>
          <a:lstStyle/>
          <a:p>
            <a:r>
              <a:rPr lang="en-US" altLang="zh-TW"/>
              <a:t>Click to edit Master title style</a:t>
            </a:r>
            <a:endParaRPr lang="zh-TW" altLang="en-US"/>
          </a:p>
        </p:txBody>
      </p:sp>
      <p:sp>
        <p:nvSpPr>
          <p:cNvPr id="3" name="Vertical Text Placeholder 2">
            <a:extLst>
              <a:ext uri="{FF2B5EF4-FFF2-40B4-BE49-F238E27FC236}">
                <a16:creationId xmlns:a16="http://schemas.microsoft.com/office/drawing/2014/main" id="{05494078-3A46-87F1-02CE-B481D4099CEF}"/>
              </a:ext>
            </a:extLst>
          </p:cNvPr>
          <p:cNvSpPr>
            <a:spLocks noGrp="1"/>
          </p:cNvSpPr>
          <p:nvPr>
            <p:ph type="body" orient="vert" idx="1"/>
          </p:nvPr>
        </p:nvSpPr>
        <p:spPr>
          <a:xfrm>
            <a:off x="838200" y="365125"/>
            <a:ext cx="7734300" cy="5811838"/>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B3C5B49B-B5EE-786B-7147-76AFA112DBEB}"/>
              </a:ext>
            </a:extLst>
          </p:cNvPr>
          <p:cNvSpPr>
            <a:spLocks noGrp="1"/>
          </p:cNvSpPr>
          <p:nvPr>
            <p:ph type="dt" sz="half" idx="10"/>
          </p:nvPr>
        </p:nvSpPr>
        <p:spPr/>
        <p:txBody>
          <a:bodyPr/>
          <a:lstStyle/>
          <a:p>
            <a:fld id="{95A195F3-7F60-49EF-A166-79DEB6DB3044}" type="datetimeFigureOut">
              <a:rPr lang="zh-TW" altLang="en-US" smtClean="0"/>
              <a:t>2026/3/15</a:t>
            </a:fld>
            <a:endParaRPr lang="zh-TW" altLang="en-US"/>
          </a:p>
        </p:txBody>
      </p:sp>
      <p:sp>
        <p:nvSpPr>
          <p:cNvPr id="5" name="Footer Placeholder 4">
            <a:extLst>
              <a:ext uri="{FF2B5EF4-FFF2-40B4-BE49-F238E27FC236}">
                <a16:creationId xmlns:a16="http://schemas.microsoft.com/office/drawing/2014/main" id="{413DCC03-CBBD-5447-A35D-6A8082E80E3E}"/>
              </a:ext>
            </a:extLst>
          </p:cNvPr>
          <p:cNvSpPr>
            <a:spLocks noGrp="1"/>
          </p:cNvSpPr>
          <p:nvPr>
            <p:ph type="ftr" sz="quarter" idx="11"/>
          </p:nvPr>
        </p:nvSpPr>
        <p:spPr/>
        <p:txBody>
          <a:bodyPr/>
          <a:lstStyle/>
          <a:p>
            <a:endParaRPr lang="zh-TW" altLang="en-US"/>
          </a:p>
        </p:txBody>
      </p:sp>
      <p:sp>
        <p:nvSpPr>
          <p:cNvPr id="6" name="Slide Number Placeholder 5">
            <a:extLst>
              <a:ext uri="{FF2B5EF4-FFF2-40B4-BE49-F238E27FC236}">
                <a16:creationId xmlns:a16="http://schemas.microsoft.com/office/drawing/2014/main" id="{24221219-74C1-ACFD-C1D9-9D612B249E34}"/>
              </a:ext>
            </a:extLst>
          </p:cNvPr>
          <p:cNvSpPr>
            <a:spLocks noGrp="1"/>
          </p:cNvSpPr>
          <p:nvPr>
            <p:ph type="sldNum" sz="quarter" idx="12"/>
          </p:nvPr>
        </p:nvSpPr>
        <p:spPr/>
        <p:txBody>
          <a:body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3864527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5D8043-F2F8-1F5B-737A-4BC48EF8A1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TW"/>
              <a:t>Click to edit Master title style</a:t>
            </a:r>
            <a:endParaRPr lang="zh-TW" altLang="en-US"/>
          </a:p>
        </p:txBody>
      </p:sp>
      <p:sp>
        <p:nvSpPr>
          <p:cNvPr id="3" name="Text Placeholder 2">
            <a:extLst>
              <a:ext uri="{FF2B5EF4-FFF2-40B4-BE49-F238E27FC236}">
                <a16:creationId xmlns:a16="http://schemas.microsoft.com/office/drawing/2014/main" id="{413AF461-7711-CA84-DF29-8E49A14110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Date Placeholder 3">
            <a:extLst>
              <a:ext uri="{FF2B5EF4-FFF2-40B4-BE49-F238E27FC236}">
                <a16:creationId xmlns:a16="http://schemas.microsoft.com/office/drawing/2014/main" id="{9FE01BDC-B756-494F-7A45-57CA9EDAEC7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5A195F3-7F60-49EF-A166-79DEB6DB3044}" type="datetimeFigureOut">
              <a:rPr lang="zh-TW" altLang="en-US" smtClean="0"/>
              <a:t>2026/3/15</a:t>
            </a:fld>
            <a:endParaRPr lang="zh-TW" altLang="en-US"/>
          </a:p>
        </p:txBody>
      </p:sp>
      <p:sp>
        <p:nvSpPr>
          <p:cNvPr id="5" name="Footer Placeholder 4">
            <a:extLst>
              <a:ext uri="{FF2B5EF4-FFF2-40B4-BE49-F238E27FC236}">
                <a16:creationId xmlns:a16="http://schemas.microsoft.com/office/drawing/2014/main" id="{7211F4AD-9C3F-8A3D-DA87-A8ACBF7B4C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Slide Number Placeholder 5">
            <a:extLst>
              <a:ext uri="{FF2B5EF4-FFF2-40B4-BE49-F238E27FC236}">
                <a16:creationId xmlns:a16="http://schemas.microsoft.com/office/drawing/2014/main" id="{5C15FF72-A306-F433-DB6E-7FC5D86B58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4298FB-A576-4E7E-8F3E-8A2EA3EEDF09}" type="slidenum">
              <a:rPr lang="zh-TW" altLang="en-US" smtClean="0"/>
              <a:t>‹#›</a:t>
            </a:fld>
            <a:endParaRPr lang="zh-TW" altLang="en-US"/>
          </a:p>
        </p:txBody>
      </p:sp>
    </p:spTree>
    <p:extLst>
      <p:ext uri="{BB962C8B-B14F-4D97-AF65-F5344CB8AC3E}">
        <p14:creationId xmlns:p14="http://schemas.microsoft.com/office/powerpoint/2010/main" val="1998316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B5997-B15D-4EEF-17E3-C502C06CAC83}"/>
              </a:ext>
            </a:extLst>
          </p:cNvPr>
          <p:cNvSpPr>
            <a:spLocks noGrp="1"/>
          </p:cNvSpPr>
          <p:nvPr>
            <p:ph type="ctrTitle"/>
          </p:nvPr>
        </p:nvSpPr>
        <p:spPr/>
        <p:txBody>
          <a:bodyPr/>
          <a:lstStyle/>
          <a:p>
            <a:endParaRPr lang="zh-TW" altLang="en-US"/>
          </a:p>
        </p:txBody>
      </p:sp>
      <p:sp>
        <p:nvSpPr>
          <p:cNvPr id="3" name="Subtitle 2">
            <a:extLst>
              <a:ext uri="{FF2B5EF4-FFF2-40B4-BE49-F238E27FC236}">
                <a16:creationId xmlns:a16="http://schemas.microsoft.com/office/drawing/2014/main" id="{84C1F249-AE37-8ACC-917B-7EA2B021E4F9}"/>
              </a:ext>
            </a:extLst>
          </p:cNvPr>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5095726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FBB84D-280F-08C7-2318-053A1901C6AF}"/>
              </a:ext>
            </a:extLst>
          </p:cNvPr>
          <p:cNvPicPr>
            <a:picLocks noChangeAspect="1"/>
          </p:cNvPicPr>
          <p:nvPr/>
        </p:nvPicPr>
        <p:blipFill>
          <a:blip r:embed="rId2"/>
          <a:stretch>
            <a:fillRect/>
          </a:stretch>
        </p:blipFill>
        <p:spPr>
          <a:xfrm>
            <a:off x="102400" y="0"/>
            <a:ext cx="11987200" cy="6858000"/>
          </a:xfrm>
          <a:prstGeom prst="rect">
            <a:avLst/>
          </a:prstGeom>
        </p:spPr>
      </p:pic>
    </p:spTree>
    <p:extLst>
      <p:ext uri="{BB962C8B-B14F-4D97-AF65-F5344CB8AC3E}">
        <p14:creationId xmlns:p14="http://schemas.microsoft.com/office/powerpoint/2010/main" val="1057791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5776-CC86-E8B8-D39C-4C0771A927C0}"/>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5D24DF2-D671-25B5-A05A-8968969735C4}"/>
              </a:ext>
            </a:extLst>
          </p:cNvPr>
          <p:cNvPicPr>
            <a:picLocks noChangeAspect="1"/>
          </p:cNvPicPr>
          <p:nvPr/>
        </p:nvPicPr>
        <p:blipFill>
          <a:blip r:embed="rId2"/>
          <a:stretch>
            <a:fillRect/>
          </a:stretch>
        </p:blipFill>
        <p:spPr>
          <a:xfrm>
            <a:off x="102400" y="0"/>
            <a:ext cx="11987200" cy="6858000"/>
          </a:xfrm>
          <a:prstGeom prst="rect">
            <a:avLst/>
          </a:prstGeom>
        </p:spPr>
      </p:pic>
      <p:sp>
        <p:nvSpPr>
          <p:cNvPr id="6" name="Speech Bubble: Rectangle 5">
            <a:extLst>
              <a:ext uri="{FF2B5EF4-FFF2-40B4-BE49-F238E27FC236}">
                <a16:creationId xmlns:a16="http://schemas.microsoft.com/office/drawing/2014/main" id="{8C58A020-F826-C221-D01C-EDC926EB6307}"/>
              </a:ext>
            </a:extLst>
          </p:cNvPr>
          <p:cNvSpPr/>
          <p:nvPr/>
        </p:nvSpPr>
        <p:spPr>
          <a:xfrm>
            <a:off x="1568025" y="628644"/>
            <a:ext cx="2216576" cy="829735"/>
          </a:xfrm>
          <a:prstGeom prst="wedgeRectCallout">
            <a:avLst>
              <a:gd name="adj1" fmla="val -38601"/>
              <a:gd name="adj2" fmla="val 64989"/>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Variable Selection</a:t>
            </a:r>
          </a:p>
          <a:p>
            <a:pPr algn="just"/>
            <a:r>
              <a:rPr lang="en-US" altLang="zh-TW" sz="1000" dirty="0">
                <a:solidFill>
                  <a:schemeClr val="tx1"/>
                </a:solidFill>
              </a:rPr>
              <a:t>Multiple variables allowed. Displays names if &lt;10 selected; otherwise, shows count only. Includes "Select All" and "Deselect All”.</a:t>
            </a:r>
            <a:endParaRPr lang="zh-TW" altLang="en-US" sz="1000" dirty="0">
              <a:solidFill>
                <a:schemeClr val="tx1"/>
              </a:solidFill>
            </a:endParaRPr>
          </a:p>
        </p:txBody>
      </p:sp>
      <p:sp>
        <p:nvSpPr>
          <p:cNvPr id="8" name="Speech Bubble: Rectangle 7">
            <a:extLst>
              <a:ext uri="{FF2B5EF4-FFF2-40B4-BE49-F238E27FC236}">
                <a16:creationId xmlns:a16="http://schemas.microsoft.com/office/drawing/2014/main" id="{C6BC64CA-8FA3-EBA3-F00A-08477BC33746}"/>
              </a:ext>
            </a:extLst>
          </p:cNvPr>
          <p:cNvSpPr/>
          <p:nvPr/>
        </p:nvSpPr>
        <p:spPr>
          <a:xfrm>
            <a:off x="3066625" y="2025639"/>
            <a:ext cx="3156372" cy="499541"/>
          </a:xfrm>
          <a:prstGeom prst="wedgeRectCallout">
            <a:avLst>
              <a:gd name="adj1" fmla="val -65669"/>
              <a:gd name="adj2" fmla="val 21388"/>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Train/ Test Split Ratio</a:t>
            </a:r>
          </a:p>
          <a:p>
            <a:pPr algn="just"/>
            <a:r>
              <a:rPr lang="en-US" altLang="zh-TW" sz="1000" dirty="0">
                <a:solidFill>
                  <a:schemeClr val="tx1"/>
                </a:solidFill>
              </a:rPr>
              <a:t>Set train/test split ratio. (Default: 80% training, 20% testing.)</a:t>
            </a:r>
            <a:endParaRPr lang="zh-TW" altLang="en-US" sz="1000" dirty="0">
              <a:solidFill>
                <a:schemeClr val="tx1"/>
              </a:solidFill>
            </a:endParaRPr>
          </a:p>
        </p:txBody>
      </p:sp>
      <p:sp>
        <p:nvSpPr>
          <p:cNvPr id="9" name="Speech Bubble: Rectangle 8">
            <a:extLst>
              <a:ext uri="{FF2B5EF4-FFF2-40B4-BE49-F238E27FC236}">
                <a16:creationId xmlns:a16="http://schemas.microsoft.com/office/drawing/2014/main" id="{2F7295BA-7B01-A00F-D8E4-A0014E321FE9}"/>
              </a:ext>
            </a:extLst>
          </p:cNvPr>
          <p:cNvSpPr/>
          <p:nvPr/>
        </p:nvSpPr>
        <p:spPr>
          <a:xfrm>
            <a:off x="3066625" y="2626779"/>
            <a:ext cx="3156373" cy="685803"/>
          </a:xfrm>
          <a:prstGeom prst="wedgeRectCallout">
            <a:avLst>
              <a:gd name="adj1" fmla="val -62696"/>
              <a:gd name="adj2" fmla="val 33065"/>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Minimum Split</a:t>
            </a:r>
          </a:p>
          <a:p>
            <a:r>
              <a:rPr lang="en-US" altLang="zh-TW" sz="1000" dirty="0">
                <a:solidFill>
                  <a:schemeClr val="tx1"/>
                </a:solidFill>
              </a:rPr>
              <a:t>Set the minimum observations for a node split. Higher values simplify the tree; lower values allow more detail. (Default: 10)</a:t>
            </a:r>
            <a:endParaRPr lang="en-US" altLang="zh-TW" sz="1000" b="1" dirty="0">
              <a:solidFill>
                <a:schemeClr val="tx1"/>
              </a:solidFill>
            </a:endParaRPr>
          </a:p>
        </p:txBody>
      </p:sp>
      <p:sp>
        <p:nvSpPr>
          <p:cNvPr id="10" name="Speech Bubble: Rectangle 9">
            <a:extLst>
              <a:ext uri="{FF2B5EF4-FFF2-40B4-BE49-F238E27FC236}">
                <a16:creationId xmlns:a16="http://schemas.microsoft.com/office/drawing/2014/main" id="{97F9C076-8DF1-840E-D312-ABE9229118E2}"/>
              </a:ext>
            </a:extLst>
          </p:cNvPr>
          <p:cNvSpPr/>
          <p:nvPr/>
        </p:nvSpPr>
        <p:spPr>
          <a:xfrm>
            <a:off x="3066627" y="3370784"/>
            <a:ext cx="3156374" cy="787405"/>
          </a:xfrm>
          <a:prstGeom prst="wedgeRectCallout">
            <a:avLst>
              <a:gd name="adj1" fmla="val -62269"/>
              <a:gd name="adj2" fmla="val 20810"/>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Maximum Depth</a:t>
            </a:r>
          </a:p>
          <a:p>
            <a:r>
              <a:rPr lang="en-US" altLang="zh-TW" sz="1000" dirty="0">
                <a:solidFill>
                  <a:schemeClr val="tx1"/>
                </a:solidFill>
              </a:rPr>
              <a:t>Set the maximum depth of the tree. Higher values create a deeper, more complex tree; lower values keep the model simpler and easier to interpret. (Default: 10)</a:t>
            </a:r>
            <a:endParaRPr lang="en-US" altLang="zh-TW" sz="1000" b="1" dirty="0">
              <a:solidFill>
                <a:schemeClr val="tx1"/>
              </a:solidFill>
            </a:endParaRPr>
          </a:p>
        </p:txBody>
      </p:sp>
      <p:sp>
        <p:nvSpPr>
          <p:cNvPr id="11" name="Speech Bubble: Rectangle 10">
            <a:extLst>
              <a:ext uri="{FF2B5EF4-FFF2-40B4-BE49-F238E27FC236}">
                <a16:creationId xmlns:a16="http://schemas.microsoft.com/office/drawing/2014/main" id="{64A237FC-86CF-3A3F-CFA8-BDEF860E4ED4}"/>
              </a:ext>
            </a:extLst>
          </p:cNvPr>
          <p:cNvSpPr/>
          <p:nvPr/>
        </p:nvSpPr>
        <p:spPr>
          <a:xfrm>
            <a:off x="3066627" y="4231221"/>
            <a:ext cx="3156374" cy="795868"/>
          </a:xfrm>
          <a:prstGeom prst="wedgeRectCallout">
            <a:avLst>
              <a:gd name="adj1" fmla="val -61095"/>
              <a:gd name="adj2" fmla="val 1711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Complexity Parameter (CP)</a:t>
            </a:r>
          </a:p>
          <a:p>
            <a:r>
              <a:rPr lang="en-US" altLang="zh-TW" sz="1000" dirty="0">
                <a:solidFill>
                  <a:schemeClr val="tx1"/>
                </a:solidFill>
              </a:rPr>
              <a:t>Complexity Parameter (CP)Set the minimum improvement required for an additional split. Higher values produce a simpler tree, while lower values allow more splits. (Default: 0.001)</a:t>
            </a:r>
            <a:endParaRPr lang="en-US" altLang="zh-TW" sz="1000" b="1" dirty="0">
              <a:solidFill>
                <a:schemeClr val="tx1"/>
              </a:solidFill>
            </a:endParaRPr>
          </a:p>
        </p:txBody>
      </p:sp>
      <p:sp>
        <p:nvSpPr>
          <p:cNvPr id="12" name="Speech Bubble: Rectangle 11">
            <a:extLst>
              <a:ext uri="{FF2B5EF4-FFF2-40B4-BE49-F238E27FC236}">
                <a16:creationId xmlns:a16="http://schemas.microsoft.com/office/drawing/2014/main" id="{D44E976F-F08A-32F6-80BB-4E0651209AE2}"/>
              </a:ext>
            </a:extLst>
          </p:cNvPr>
          <p:cNvSpPr/>
          <p:nvPr/>
        </p:nvSpPr>
        <p:spPr>
          <a:xfrm>
            <a:off x="2380826" y="5128688"/>
            <a:ext cx="3842174" cy="685803"/>
          </a:xfrm>
          <a:prstGeom prst="wedgeRectCallout">
            <a:avLst>
              <a:gd name="adj1" fmla="val -80146"/>
              <a:gd name="adj2" fmla="val -27052"/>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Build Model</a:t>
            </a:r>
          </a:p>
          <a:p>
            <a:pPr algn="just"/>
            <a:r>
              <a:rPr lang="en-US" altLang="zh-TW" sz="1000" dirty="0">
                <a:solidFill>
                  <a:schemeClr val="tx1"/>
                </a:solidFill>
              </a:rPr>
              <a:t>Click to train the decision tree using the selected variables and parameter settings. The dashboard will update with model performance and visualizations.</a:t>
            </a:r>
            <a:endParaRPr lang="en-US" altLang="zh-TW" sz="1000" b="1" dirty="0">
              <a:solidFill>
                <a:schemeClr val="tx1"/>
              </a:solidFill>
            </a:endParaRPr>
          </a:p>
        </p:txBody>
      </p:sp>
      <p:sp>
        <p:nvSpPr>
          <p:cNvPr id="13" name="Speech Bubble: Rectangle 12">
            <a:extLst>
              <a:ext uri="{FF2B5EF4-FFF2-40B4-BE49-F238E27FC236}">
                <a16:creationId xmlns:a16="http://schemas.microsoft.com/office/drawing/2014/main" id="{6579F166-B779-4D65-61C3-A378D7E6D5BF}"/>
              </a:ext>
            </a:extLst>
          </p:cNvPr>
          <p:cNvSpPr/>
          <p:nvPr/>
        </p:nvSpPr>
        <p:spPr>
          <a:xfrm>
            <a:off x="3066626" y="6136217"/>
            <a:ext cx="3156374" cy="685804"/>
          </a:xfrm>
          <a:prstGeom prst="wedgeRectCallout">
            <a:avLst>
              <a:gd name="adj1" fmla="val -68774"/>
              <a:gd name="adj2" fmla="val -15940"/>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Parameter Explanation</a:t>
            </a:r>
          </a:p>
          <a:p>
            <a:pPr algn="just"/>
            <a:r>
              <a:rPr lang="en-US" altLang="zh-TW" sz="1000" dirty="0">
                <a:solidFill>
                  <a:schemeClr val="tx1"/>
                </a:solidFill>
              </a:rPr>
              <a:t>Provide more intuitive text explanations for users on the concepts of Train/Test Split Ratio, Minimum Split, Maximum Depth, and Complexity Parameter (CP).</a:t>
            </a:r>
            <a:endParaRPr lang="en-US" altLang="zh-TW" sz="1000" b="1" dirty="0">
              <a:solidFill>
                <a:schemeClr val="tx1"/>
              </a:solidFill>
            </a:endParaRPr>
          </a:p>
        </p:txBody>
      </p:sp>
    </p:spTree>
    <p:extLst>
      <p:ext uri="{BB962C8B-B14F-4D97-AF65-F5344CB8AC3E}">
        <p14:creationId xmlns:p14="http://schemas.microsoft.com/office/powerpoint/2010/main" val="25795659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DC436-8941-A3F2-BF7B-A462F6A0734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46428F8-3794-EB85-6255-BE74570B628E}"/>
              </a:ext>
            </a:extLst>
          </p:cNvPr>
          <p:cNvPicPr>
            <a:picLocks noChangeAspect="1"/>
          </p:cNvPicPr>
          <p:nvPr/>
        </p:nvPicPr>
        <p:blipFill>
          <a:blip r:embed="rId2"/>
          <a:stretch>
            <a:fillRect/>
          </a:stretch>
        </p:blipFill>
        <p:spPr>
          <a:xfrm>
            <a:off x="102400" y="0"/>
            <a:ext cx="11987200" cy="6858000"/>
          </a:xfrm>
          <a:prstGeom prst="rect">
            <a:avLst/>
          </a:prstGeom>
        </p:spPr>
      </p:pic>
      <p:sp>
        <p:nvSpPr>
          <p:cNvPr id="6" name="Speech Bubble: Rectangle 5">
            <a:extLst>
              <a:ext uri="{FF2B5EF4-FFF2-40B4-BE49-F238E27FC236}">
                <a16:creationId xmlns:a16="http://schemas.microsoft.com/office/drawing/2014/main" id="{B477E677-9336-91A9-8E9C-068B4007EF39}"/>
              </a:ext>
            </a:extLst>
          </p:cNvPr>
          <p:cNvSpPr/>
          <p:nvPr/>
        </p:nvSpPr>
        <p:spPr>
          <a:xfrm>
            <a:off x="5581858" y="639228"/>
            <a:ext cx="2994876" cy="503773"/>
          </a:xfrm>
          <a:prstGeom prst="wedgeRectCallout">
            <a:avLst>
              <a:gd name="adj1" fmla="val -64889"/>
              <a:gd name="adj2" fmla="val 18160"/>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Model Performance</a:t>
            </a:r>
          </a:p>
          <a:p>
            <a:pPr algn="just"/>
            <a:r>
              <a:rPr lang="en-US" altLang="zh-TW" sz="1000" dirty="0">
                <a:solidFill>
                  <a:schemeClr val="tx1"/>
                </a:solidFill>
              </a:rPr>
              <a:t>Click “Build Model” to automatically calculate RMSE, MAE, and R-squared for model evaluation.</a:t>
            </a:r>
            <a:endParaRPr lang="zh-TW" altLang="en-US" sz="1000" dirty="0">
              <a:solidFill>
                <a:schemeClr val="tx1"/>
              </a:solidFill>
            </a:endParaRPr>
          </a:p>
        </p:txBody>
      </p:sp>
      <p:sp>
        <p:nvSpPr>
          <p:cNvPr id="2" name="Speech Bubble: Rectangle 1">
            <a:extLst>
              <a:ext uri="{FF2B5EF4-FFF2-40B4-BE49-F238E27FC236}">
                <a16:creationId xmlns:a16="http://schemas.microsoft.com/office/drawing/2014/main" id="{B1AB5D35-460C-B849-8330-36E0A29511F5}"/>
              </a:ext>
            </a:extLst>
          </p:cNvPr>
          <p:cNvSpPr/>
          <p:nvPr/>
        </p:nvSpPr>
        <p:spPr>
          <a:xfrm>
            <a:off x="2959157" y="2063746"/>
            <a:ext cx="1775675" cy="1189573"/>
          </a:xfrm>
          <a:prstGeom prst="wedgeRectCallout">
            <a:avLst>
              <a:gd name="adj1" fmla="val -2419"/>
              <a:gd name="adj2" fmla="val -9964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RMSE</a:t>
            </a:r>
          </a:p>
          <a:p>
            <a:r>
              <a:rPr lang="en-US" altLang="zh-TW" sz="1000" dirty="0">
                <a:solidFill>
                  <a:schemeClr val="tx1"/>
                </a:solidFill>
              </a:rPr>
              <a:t>Measures the overall prediction error, giving more weight to larger errors. Lower values indicate better model performance.</a:t>
            </a:r>
            <a:endParaRPr lang="zh-TW" altLang="en-US" sz="1000" dirty="0">
              <a:solidFill>
                <a:schemeClr val="tx1"/>
              </a:solidFill>
            </a:endParaRPr>
          </a:p>
        </p:txBody>
      </p:sp>
      <p:sp>
        <p:nvSpPr>
          <p:cNvPr id="3" name="Speech Bubble: Rectangle 2">
            <a:extLst>
              <a:ext uri="{FF2B5EF4-FFF2-40B4-BE49-F238E27FC236}">
                <a16:creationId xmlns:a16="http://schemas.microsoft.com/office/drawing/2014/main" id="{A427F5FE-C8E8-A7E0-963D-61CAA5BC214B}"/>
              </a:ext>
            </a:extLst>
          </p:cNvPr>
          <p:cNvSpPr/>
          <p:nvPr/>
        </p:nvSpPr>
        <p:spPr>
          <a:xfrm>
            <a:off x="5111541" y="2063745"/>
            <a:ext cx="1775675" cy="1189573"/>
          </a:xfrm>
          <a:prstGeom prst="wedgeRectCallout">
            <a:avLst>
              <a:gd name="adj1" fmla="val -2419"/>
              <a:gd name="adj2" fmla="val -9964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MAE</a:t>
            </a:r>
          </a:p>
          <a:p>
            <a:r>
              <a:rPr lang="en-US" altLang="zh-TW" sz="1000" dirty="0">
                <a:solidFill>
                  <a:schemeClr val="tx1"/>
                </a:solidFill>
              </a:rPr>
              <a:t>Measures the average absolute difference between predicted and actual values. Lower values indicate more accurate predictions.</a:t>
            </a:r>
            <a:endParaRPr lang="zh-TW" altLang="en-US" sz="1000" dirty="0">
              <a:solidFill>
                <a:schemeClr val="tx1"/>
              </a:solidFill>
            </a:endParaRPr>
          </a:p>
        </p:txBody>
      </p:sp>
      <p:sp>
        <p:nvSpPr>
          <p:cNvPr id="7" name="Speech Bubble: Rectangle 6">
            <a:extLst>
              <a:ext uri="{FF2B5EF4-FFF2-40B4-BE49-F238E27FC236}">
                <a16:creationId xmlns:a16="http://schemas.microsoft.com/office/drawing/2014/main" id="{7F2CCEA3-C231-253C-C1F7-882960918AD7}"/>
              </a:ext>
            </a:extLst>
          </p:cNvPr>
          <p:cNvSpPr/>
          <p:nvPr/>
        </p:nvSpPr>
        <p:spPr>
          <a:xfrm>
            <a:off x="7003096" y="2063745"/>
            <a:ext cx="1775675" cy="994839"/>
          </a:xfrm>
          <a:prstGeom prst="wedgeRectCallout">
            <a:avLst>
              <a:gd name="adj1" fmla="val -2419"/>
              <a:gd name="adj2" fmla="val -9964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R-squared</a:t>
            </a:r>
          </a:p>
          <a:p>
            <a:r>
              <a:rPr lang="en-US" altLang="zh-TW" sz="1000" dirty="0">
                <a:solidFill>
                  <a:schemeClr val="tx1"/>
                </a:solidFill>
              </a:rPr>
              <a:t>Shows how well the model explains the variation in the target variable. Values closer to 1 indicate a better fit.</a:t>
            </a:r>
            <a:endParaRPr lang="zh-TW" altLang="en-US" sz="1000" dirty="0">
              <a:solidFill>
                <a:schemeClr val="tx1"/>
              </a:solidFill>
            </a:endParaRPr>
          </a:p>
        </p:txBody>
      </p:sp>
    </p:spTree>
    <p:extLst>
      <p:ext uri="{BB962C8B-B14F-4D97-AF65-F5344CB8AC3E}">
        <p14:creationId xmlns:p14="http://schemas.microsoft.com/office/powerpoint/2010/main" val="2043869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13F04-A1E3-1067-3DBD-776EFE16187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09871B05-2011-2B11-187F-947CB7A58ACC}"/>
              </a:ext>
            </a:extLst>
          </p:cNvPr>
          <p:cNvPicPr>
            <a:picLocks noChangeAspect="1"/>
          </p:cNvPicPr>
          <p:nvPr/>
        </p:nvPicPr>
        <p:blipFill>
          <a:blip r:embed="rId2"/>
          <a:stretch>
            <a:fillRect/>
          </a:stretch>
        </p:blipFill>
        <p:spPr>
          <a:xfrm>
            <a:off x="102400" y="0"/>
            <a:ext cx="11987200" cy="6858000"/>
          </a:xfrm>
          <a:prstGeom prst="rect">
            <a:avLst/>
          </a:prstGeom>
        </p:spPr>
      </p:pic>
      <p:sp>
        <p:nvSpPr>
          <p:cNvPr id="6" name="Speech Bubble: Rectangle 5">
            <a:extLst>
              <a:ext uri="{FF2B5EF4-FFF2-40B4-BE49-F238E27FC236}">
                <a16:creationId xmlns:a16="http://schemas.microsoft.com/office/drawing/2014/main" id="{061FBC40-4D3B-52E8-5CC2-B220EC909994}"/>
              </a:ext>
            </a:extLst>
          </p:cNvPr>
          <p:cNvSpPr/>
          <p:nvPr/>
        </p:nvSpPr>
        <p:spPr>
          <a:xfrm>
            <a:off x="4769058" y="2736852"/>
            <a:ext cx="2994876" cy="1037172"/>
          </a:xfrm>
          <a:prstGeom prst="wedgeRectCallout">
            <a:avLst>
              <a:gd name="adj1" fmla="val -36901"/>
              <a:gd name="adj2" fmla="val 75448"/>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Decision Tree</a:t>
            </a:r>
          </a:p>
          <a:p>
            <a:r>
              <a:rPr lang="en-US" altLang="zh-TW" sz="1000" dirty="0">
                <a:solidFill>
                  <a:schemeClr val="tx1"/>
                </a:solidFill>
              </a:rPr>
              <a:t>Displays the structure of the trained decision tree. Each split shows how the model segments the data based on predictor values, ending in terminal nodes that generate the final prediction. Users can zoom in or out to inspect the tree in more detail.</a:t>
            </a:r>
            <a:endParaRPr lang="zh-TW" altLang="en-US" sz="1000" dirty="0">
              <a:solidFill>
                <a:schemeClr val="tx1"/>
              </a:solidFill>
            </a:endParaRPr>
          </a:p>
        </p:txBody>
      </p:sp>
      <p:sp>
        <p:nvSpPr>
          <p:cNvPr id="4" name="Speech Bubble: Rectangle 3">
            <a:extLst>
              <a:ext uri="{FF2B5EF4-FFF2-40B4-BE49-F238E27FC236}">
                <a16:creationId xmlns:a16="http://schemas.microsoft.com/office/drawing/2014/main" id="{879C3DF1-6C4E-E5A2-4B6E-DAF3EE0F9A0D}"/>
              </a:ext>
            </a:extLst>
          </p:cNvPr>
          <p:cNvSpPr/>
          <p:nvPr/>
        </p:nvSpPr>
        <p:spPr>
          <a:xfrm>
            <a:off x="8739924" y="1710266"/>
            <a:ext cx="2994876" cy="812800"/>
          </a:xfrm>
          <a:prstGeom prst="wedgeRectCallout">
            <a:avLst>
              <a:gd name="adj1" fmla="val -29833"/>
              <a:gd name="adj2" fmla="val 88990"/>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Predicted vs Actual on Test Data</a:t>
            </a:r>
          </a:p>
          <a:p>
            <a:r>
              <a:rPr lang="en-US" altLang="zh-TW" sz="1000" dirty="0">
                <a:solidFill>
                  <a:schemeClr val="tx1"/>
                </a:solidFill>
              </a:rPr>
              <a:t>Compares predicted churn probability with actual churn probability on the test dataset. Points closer to the red diagonal line indicate better prediction accuracy.</a:t>
            </a:r>
            <a:endParaRPr lang="zh-TW" altLang="en-US" sz="1000" dirty="0">
              <a:solidFill>
                <a:schemeClr val="tx1"/>
              </a:solidFill>
            </a:endParaRPr>
          </a:p>
        </p:txBody>
      </p:sp>
      <p:sp>
        <p:nvSpPr>
          <p:cNvPr id="8" name="Speech Bubble: Rectangle 7">
            <a:extLst>
              <a:ext uri="{FF2B5EF4-FFF2-40B4-BE49-F238E27FC236}">
                <a16:creationId xmlns:a16="http://schemas.microsoft.com/office/drawing/2014/main" id="{8FACDA62-FBD6-B5B0-4A14-3EF0304B5806}"/>
              </a:ext>
            </a:extLst>
          </p:cNvPr>
          <p:cNvSpPr/>
          <p:nvPr/>
        </p:nvSpPr>
        <p:spPr>
          <a:xfrm>
            <a:off x="4769058" y="5990167"/>
            <a:ext cx="2994876" cy="812800"/>
          </a:xfrm>
          <a:prstGeom prst="wedgeRectCallout">
            <a:avLst>
              <a:gd name="adj1" fmla="val 75333"/>
              <a:gd name="adj2" fmla="val -43302"/>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Feature Importance of Decision Tree</a:t>
            </a:r>
          </a:p>
          <a:p>
            <a:r>
              <a:rPr lang="en-US" altLang="zh-TW" sz="1000" dirty="0">
                <a:solidFill>
                  <a:schemeClr val="tx1"/>
                </a:solidFill>
              </a:rPr>
              <a:t>Shows the top 10 most important variables used in the decision tree. Higher values indicate that a variable contributes more to the model’s predictions.</a:t>
            </a:r>
            <a:endParaRPr lang="zh-TW" altLang="en-US" sz="1000" dirty="0">
              <a:solidFill>
                <a:schemeClr val="tx1"/>
              </a:solidFill>
            </a:endParaRPr>
          </a:p>
        </p:txBody>
      </p:sp>
      <p:sp>
        <p:nvSpPr>
          <p:cNvPr id="9" name="Speech Bubble: Rectangle 8">
            <a:extLst>
              <a:ext uri="{FF2B5EF4-FFF2-40B4-BE49-F238E27FC236}">
                <a16:creationId xmlns:a16="http://schemas.microsoft.com/office/drawing/2014/main" id="{91A8F7A6-A171-B50E-CC1D-AC467AA79BFA}"/>
              </a:ext>
            </a:extLst>
          </p:cNvPr>
          <p:cNvSpPr/>
          <p:nvPr/>
        </p:nvSpPr>
        <p:spPr>
          <a:xfrm>
            <a:off x="5234724" y="1805519"/>
            <a:ext cx="2994876" cy="812800"/>
          </a:xfrm>
          <a:prstGeom prst="wedgeRectCallout">
            <a:avLst>
              <a:gd name="adj1" fmla="val -73371"/>
              <a:gd name="adj2" fmla="val 20500"/>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Model Visualization</a:t>
            </a:r>
          </a:p>
          <a:p>
            <a:r>
              <a:rPr lang="en-US" altLang="zh-TW" sz="1000" dirty="0">
                <a:solidFill>
                  <a:schemeClr val="tx1"/>
                </a:solidFill>
              </a:rPr>
              <a:t>Displays the trained decision tree, prediction accuracy on test data, and the relative importance of model features.</a:t>
            </a:r>
            <a:endParaRPr lang="zh-TW" altLang="en-US" sz="1000" dirty="0">
              <a:solidFill>
                <a:schemeClr val="tx1"/>
              </a:solidFill>
            </a:endParaRPr>
          </a:p>
        </p:txBody>
      </p:sp>
    </p:spTree>
    <p:extLst>
      <p:ext uri="{BB962C8B-B14F-4D97-AF65-F5344CB8AC3E}">
        <p14:creationId xmlns:p14="http://schemas.microsoft.com/office/powerpoint/2010/main" val="1796366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C213E4-9B64-EE66-2E02-1C280C9022EF}"/>
              </a:ext>
            </a:extLst>
          </p:cNvPr>
          <p:cNvPicPr>
            <a:picLocks noChangeAspect="1"/>
          </p:cNvPicPr>
          <p:nvPr/>
        </p:nvPicPr>
        <p:blipFill>
          <a:blip r:embed="rId2"/>
          <a:stretch>
            <a:fillRect/>
          </a:stretch>
        </p:blipFill>
        <p:spPr>
          <a:xfrm>
            <a:off x="0" y="20242"/>
            <a:ext cx="12192000" cy="6817515"/>
          </a:xfrm>
          <a:prstGeom prst="rect">
            <a:avLst/>
          </a:prstGeom>
        </p:spPr>
      </p:pic>
      <p:sp>
        <p:nvSpPr>
          <p:cNvPr id="6" name="Speech Bubble: Rectangle 5">
            <a:extLst>
              <a:ext uri="{FF2B5EF4-FFF2-40B4-BE49-F238E27FC236}">
                <a16:creationId xmlns:a16="http://schemas.microsoft.com/office/drawing/2014/main" id="{FA40E4C0-3918-2FAB-AF35-58B92DDD7A8C}"/>
              </a:ext>
            </a:extLst>
          </p:cNvPr>
          <p:cNvSpPr/>
          <p:nvPr/>
        </p:nvSpPr>
        <p:spPr>
          <a:xfrm>
            <a:off x="6352325" y="1908094"/>
            <a:ext cx="2994876" cy="726015"/>
          </a:xfrm>
          <a:prstGeom prst="wedgeRectCallout">
            <a:avLst>
              <a:gd name="adj1" fmla="val -71674"/>
              <a:gd name="adj2" fmla="val 23671"/>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Scenario Prediction</a:t>
            </a:r>
          </a:p>
          <a:p>
            <a:r>
              <a:rPr lang="en-US" altLang="zh-TW" sz="1000" dirty="0">
                <a:solidFill>
                  <a:schemeClr val="tx1"/>
                </a:solidFill>
              </a:rPr>
              <a:t>Allows users to input values for the selected variables, generate a predicted churn probability, and view the corresponding decision path.</a:t>
            </a:r>
            <a:endParaRPr lang="zh-TW" altLang="en-US" sz="1000" dirty="0">
              <a:solidFill>
                <a:schemeClr val="tx1"/>
              </a:solidFill>
            </a:endParaRPr>
          </a:p>
        </p:txBody>
      </p:sp>
      <p:sp>
        <p:nvSpPr>
          <p:cNvPr id="7" name="Speech Bubble: Rectangle 6">
            <a:extLst>
              <a:ext uri="{FF2B5EF4-FFF2-40B4-BE49-F238E27FC236}">
                <a16:creationId xmlns:a16="http://schemas.microsoft.com/office/drawing/2014/main" id="{EA236857-9583-9409-45F4-C3575C747342}"/>
              </a:ext>
            </a:extLst>
          </p:cNvPr>
          <p:cNvSpPr/>
          <p:nvPr/>
        </p:nvSpPr>
        <p:spPr>
          <a:xfrm>
            <a:off x="4345724" y="3428999"/>
            <a:ext cx="1862666" cy="663004"/>
          </a:xfrm>
          <a:prstGeom prst="wedgeRectCallout">
            <a:avLst>
              <a:gd name="adj1" fmla="val -48265"/>
              <a:gd name="adj2" fmla="val -10887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Input Scenario</a:t>
            </a:r>
          </a:p>
          <a:p>
            <a:r>
              <a:rPr lang="en-US" altLang="zh-TW" sz="1000" dirty="0">
                <a:solidFill>
                  <a:schemeClr val="tx1"/>
                </a:solidFill>
              </a:rPr>
              <a:t>Enter values for the variables used in the current tree model.</a:t>
            </a:r>
            <a:endParaRPr lang="zh-TW" altLang="en-US" sz="800" dirty="0">
              <a:solidFill>
                <a:schemeClr val="tx1"/>
              </a:solidFill>
            </a:endParaRPr>
          </a:p>
        </p:txBody>
      </p:sp>
      <p:sp>
        <p:nvSpPr>
          <p:cNvPr id="8" name="Speech Bubble: Rectangle 7">
            <a:extLst>
              <a:ext uri="{FF2B5EF4-FFF2-40B4-BE49-F238E27FC236}">
                <a16:creationId xmlns:a16="http://schemas.microsoft.com/office/drawing/2014/main" id="{8D7231CA-CDF4-598B-B3A8-9C54510E93F7}"/>
              </a:ext>
            </a:extLst>
          </p:cNvPr>
          <p:cNvSpPr/>
          <p:nvPr/>
        </p:nvSpPr>
        <p:spPr>
          <a:xfrm>
            <a:off x="8589848" y="2943796"/>
            <a:ext cx="1862666" cy="663004"/>
          </a:xfrm>
          <a:prstGeom prst="wedgeRectCallout">
            <a:avLst>
              <a:gd name="adj1" fmla="val -79174"/>
              <a:gd name="adj2" fmla="val 27764"/>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Prediction Result</a:t>
            </a:r>
          </a:p>
          <a:p>
            <a:r>
              <a:rPr lang="en-US" altLang="zh-TW" sz="1000" dirty="0">
                <a:solidFill>
                  <a:schemeClr val="tx1"/>
                </a:solidFill>
              </a:rPr>
              <a:t>Displays the predicted churn probability for the selected input scenario.</a:t>
            </a:r>
            <a:endParaRPr lang="zh-TW" altLang="en-US" sz="800" dirty="0">
              <a:solidFill>
                <a:schemeClr val="tx1"/>
              </a:solidFill>
            </a:endParaRPr>
          </a:p>
        </p:txBody>
      </p:sp>
      <p:sp>
        <p:nvSpPr>
          <p:cNvPr id="9" name="Speech Bubble: Rectangle 8">
            <a:extLst>
              <a:ext uri="{FF2B5EF4-FFF2-40B4-BE49-F238E27FC236}">
                <a16:creationId xmlns:a16="http://schemas.microsoft.com/office/drawing/2014/main" id="{70DC39D8-CCCE-C1C6-BD92-CAE13A655D4C}"/>
              </a:ext>
            </a:extLst>
          </p:cNvPr>
          <p:cNvSpPr/>
          <p:nvPr/>
        </p:nvSpPr>
        <p:spPr>
          <a:xfrm>
            <a:off x="8589848" y="4521961"/>
            <a:ext cx="1862666" cy="949242"/>
          </a:xfrm>
          <a:prstGeom prst="wedgeRectCallout">
            <a:avLst>
              <a:gd name="adj1" fmla="val -68265"/>
              <a:gd name="adj2" fmla="val -9855"/>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Decision Path</a:t>
            </a:r>
          </a:p>
          <a:p>
            <a:r>
              <a:rPr lang="en-US" altLang="zh-TW" sz="1000" dirty="0">
                <a:solidFill>
                  <a:schemeClr val="tx1"/>
                </a:solidFill>
              </a:rPr>
              <a:t>Shows the terminal node and the sequence of split conditions used to reach the prediction.</a:t>
            </a:r>
            <a:endParaRPr lang="zh-TW" altLang="en-US" sz="800" dirty="0">
              <a:solidFill>
                <a:schemeClr val="tx1"/>
              </a:solidFill>
            </a:endParaRPr>
          </a:p>
        </p:txBody>
      </p:sp>
      <p:sp>
        <p:nvSpPr>
          <p:cNvPr id="10" name="Speech Bubble: Rectangle 9">
            <a:extLst>
              <a:ext uri="{FF2B5EF4-FFF2-40B4-BE49-F238E27FC236}">
                <a16:creationId xmlns:a16="http://schemas.microsoft.com/office/drawing/2014/main" id="{787283E5-5500-F791-97FC-D36EDDCF96A2}"/>
              </a:ext>
            </a:extLst>
          </p:cNvPr>
          <p:cNvSpPr/>
          <p:nvPr/>
        </p:nvSpPr>
        <p:spPr>
          <a:xfrm>
            <a:off x="4863351" y="5998095"/>
            <a:ext cx="2690077" cy="663004"/>
          </a:xfrm>
          <a:prstGeom prst="wedgeRectCallout">
            <a:avLst>
              <a:gd name="adj1" fmla="val -68163"/>
              <a:gd name="adj2" fmla="val 8608"/>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Predict Scenario</a:t>
            </a:r>
          </a:p>
          <a:p>
            <a:r>
              <a:rPr lang="en-US" altLang="zh-TW" sz="1000" dirty="0">
                <a:solidFill>
                  <a:schemeClr val="tx1"/>
                </a:solidFill>
              </a:rPr>
              <a:t>Click to generate the predicted churn probability for the entered input values and display the corresponding decision path.</a:t>
            </a:r>
            <a:endParaRPr lang="zh-TW" altLang="en-US" sz="800" dirty="0">
              <a:solidFill>
                <a:schemeClr val="tx1"/>
              </a:solidFill>
            </a:endParaRPr>
          </a:p>
        </p:txBody>
      </p:sp>
    </p:spTree>
    <p:extLst>
      <p:ext uri="{BB962C8B-B14F-4D97-AF65-F5344CB8AC3E}">
        <p14:creationId xmlns:p14="http://schemas.microsoft.com/office/powerpoint/2010/main" val="2080803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98A81A-EE71-7AF2-0453-9C37173EDA09}"/>
              </a:ext>
            </a:extLst>
          </p:cNvPr>
          <p:cNvPicPr>
            <a:picLocks noChangeAspect="1"/>
          </p:cNvPicPr>
          <p:nvPr/>
        </p:nvPicPr>
        <p:blipFill>
          <a:blip r:embed="rId2"/>
          <a:stretch>
            <a:fillRect/>
          </a:stretch>
        </p:blipFill>
        <p:spPr>
          <a:xfrm>
            <a:off x="0" y="528587"/>
            <a:ext cx="12192000" cy="5800825"/>
          </a:xfrm>
          <a:prstGeom prst="rect">
            <a:avLst/>
          </a:prstGeom>
        </p:spPr>
      </p:pic>
      <p:sp>
        <p:nvSpPr>
          <p:cNvPr id="8" name="Speech Bubble: Rectangle 7">
            <a:extLst>
              <a:ext uri="{FF2B5EF4-FFF2-40B4-BE49-F238E27FC236}">
                <a16:creationId xmlns:a16="http://schemas.microsoft.com/office/drawing/2014/main" id="{65A39ED5-200A-D8C6-8AD7-CDF69197488F}"/>
              </a:ext>
            </a:extLst>
          </p:cNvPr>
          <p:cNvSpPr/>
          <p:nvPr/>
        </p:nvSpPr>
        <p:spPr>
          <a:xfrm>
            <a:off x="1893145" y="1258564"/>
            <a:ext cx="2216576" cy="829735"/>
          </a:xfrm>
          <a:prstGeom prst="wedgeRectCallout">
            <a:avLst>
              <a:gd name="adj1" fmla="val -38601"/>
              <a:gd name="adj2" fmla="val 64989"/>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Variable Selection</a:t>
            </a:r>
          </a:p>
          <a:p>
            <a:pPr algn="just"/>
            <a:r>
              <a:rPr lang="en-US" altLang="zh-TW" sz="1000" dirty="0">
                <a:solidFill>
                  <a:schemeClr val="tx1"/>
                </a:solidFill>
              </a:rPr>
              <a:t>Multiple variables allowed. Displays names if &lt;10 selected; otherwise, shows count only. Includes "Select All" and "Deselect All”.</a:t>
            </a:r>
            <a:endParaRPr lang="zh-TW" altLang="en-US" sz="1000" dirty="0">
              <a:solidFill>
                <a:schemeClr val="tx1"/>
              </a:solidFill>
            </a:endParaRPr>
          </a:p>
        </p:txBody>
      </p:sp>
      <p:sp>
        <p:nvSpPr>
          <p:cNvPr id="9" name="Speech Bubble: Rectangle 8">
            <a:extLst>
              <a:ext uri="{FF2B5EF4-FFF2-40B4-BE49-F238E27FC236}">
                <a16:creationId xmlns:a16="http://schemas.microsoft.com/office/drawing/2014/main" id="{AB3EB0B2-45E3-8759-6D58-FD9F7E4CF900}"/>
              </a:ext>
            </a:extLst>
          </p:cNvPr>
          <p:cNvSpPr/>
          <p:nvPr/>
        </p:nvSpPr>
        <p:spPr>
          <a:xfrm>
            <a:off x="2802465" y="2517705"/>
            <a:ext cx="3156372" cy="499541"/>
          </a:xfrm>
          <a:prstGeom prst="wedgeRectCallout">
            <a:avLst>
              <a:gd name="adj1" fmla="val -65669"/>
              <a:gd name="adj2" fmla="val 21388"/>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Train/ Test Split Ratio</a:t>
            </a:r>
          </a:p>
          <a:p>
            <a:pPr algn="just"/>
            <a:r>
              <a:rPr lang="en-US" altLang="zh-TW" sz="1000" dirty="0">
                <a:solidFill>
                  <a:schemeClr val="tx1"/>
                </a:solidFill>
              </a:rPr>
              <a:t>Set train/test split ratio. (Default: 80% training, 20% testing.)</a:t>
            </a:r>
            <a:endParaRPr lang="zh-TW" altLang="en-US" sz="1000" dirty="0">
              <a:solidFill>
                <a:schemeClr val="tx1"/>
              </a:solidFill>
            </a:endParaRPr>
          </a:p>
        </p:txBody>
      </p:sp>
      <p:sp>
        <p:nvSpPr>
          <p:cNvPr id="10" name="Speech Bubble: Rectangle 9">
            <a:extLst>
              <a:ext uri="{FF2B5EF4-FFF2-40B4-BE49-F238E27FC236}">
                <a16:creationId xmlns:a16="http://schemas.microsoft.com/office/drawing/2014/main" id="{A086DA89-88EE-8320-26A6-1179074828FB}"/>
              </a:ext>
            </a:extLst>
          </p:cNvPr>
          <p:cNvSpPr/>
          <p:nvPr/>
        </p:nvSpPr>
        <p:spPr>
          <a:xfrm>
            <a:off x="2802465" y="3087803"/>
            <a:ext cx="3156372" cy="809921"/>
          </a:xfrm>
          <a:prstGeom prst="wedgeRectCallout">
            <a:avLst>
              <a:gd name="adj1" fmla="val -65669"/>
              <a:gd name="adj2" fmla="val 21388"/>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Number of Trees</a:t>
            </a:r>
          </a:p>
          <a:p>
            <a:pPr algn="just"/>
            <a:r>
              <a:rPr lang="en-US" altLang="zh-TW" sz="1000" dirty="0">
                <a:solidFill>
                  <a:schemeClr val="tx1"/>
                </a:solidFill>
              </a:rPr>
              <a:t>Specifies the total number of decision trees to be built in the forest. A higher number typically increases model stability and accuracy but requires more computational time. (Default: 100)</a:t>
            </a:r>
            <a:endParaRPr lang="zh-TW" altLang="en-US" sz="1000" dirty="0">
              <a:solidFill>
                <a:schemeClr val="tx1"/>
              </a:solidFill>
            </a:endParaRPr>
          </a:p>
        </p:txBody>
      </p:sp>
      <p:sp>
        <p:nvSpPr>
          <p:cNvPr id="11" name="Speech Bubble: Rectangle 10">
            <a:extLst>
              <a:ext uri="{FF2B5EF4-FFF2-40B4-BE49-F238E27FC236}">
                <a16:creationId xmlns:a16="http://schemas.microsoft.com/office/drawing/2014/main" id="{0C526262-AEF3-14C3-FF2D-906F50BEDA36}"/>
              </a:ext>
            </a:extLst>
          </p:cNvPr>
          <p:cNvSpPr/>
          <p:nvPr/>
        </p:nvSpPr>
        <p:spPr>
          <a:xfrm>
            <a:off x="2188634" y="3959781"/>
            <a:ext cx="3842174" cy="685803"/>
          </a:xfrm>
          <a:prstGeom prst="wedgeRectCallout">
            <a:avLst>
              <a:gd name="adj1" fmla="val -80146"/>
              <a:gd name="adj2" fmla="val -27052"/>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Build Model</a:t>
            </a:r>
          </a:p>
          <a:p>
            <a:pPr algn="just"/>
            <a:r>
              <a:rPr lang="en-US" altLang="zh-TW" sz="1000" dirty="0">
                <a:solidFill>
                  <a:schemeClr val="tx1"/>
                </a:solidFill>
              </a:rPr>
              <a:t>Click to train the random forest using the selected variables and parameter settings. The dashboard will update with model performance and visualizations.</a:t>
            </a:r>
            <a:endParaRPr lang="en-US" altLang="zh-TW" sz="1000" b="1" dirty="0">
              <a:solidFill>
                <a:schemeClr val="tx1"/>
              </a:solidFill>
            </a:endParaRPr>
          </a:p>
        </p:txBody>
      </p:sp>
      <p:sp>
        <p:nvSpPr>
          <p:cNvPr id="12" name="Speech Bubble: Rectangle 11">
            <a:extLst>
              <a:ext uri="{FF2B5EF4-FFF2-40B4-BE49-F238E27FC236}">
                <a16:creationId xmlns:a16="http://schemas.microsoft.com/office/drawing/2014/main" id="{6B804C02-FE0D-AFC3-1884-505D5F450359}"/>
              </a:ext>
            </a:extLst>
          </p:cNvPr>
          <p:cNvSpPr/>
          <p:nvPr/>
        </p:nvSpPr>
        <p:spPr>
          <a:xfrm>
            <a:off x="2802465" y="5176591"/>
            <a:ext cx="3156374" cy="685804"/>
          </a:xfrm>
          <a:prstGeom prst="wedgeRectCallout">
            <a:avLst>
              <a:gd name="adj1" fmla="val -68774"/>
              <a:gd name="adj2" fmla="val -15940"/>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Parameter Explanation</a:t>
            </a:r>
          </a:p>
          <a:p>
            <a:pPr algn="just"/>
            <a:r>
              <a:rPr lang="en-US" altLang="zh-TW" sz="1000" dirty="0">
                <a:solidFill>
                  <a:schemeClr val="tx1"/>
                </a:solidFill>
              </a:rPr>
              <a:t>Provide more intuitive text explanations for users on the concepts of Train/Test Split Ratio, Number of Trees.</a:t>
            </a:r>
            <a:endParaRPr lang="en-US" altLang="zh-TW" sz="1000" b="1" dirty="0">
              <a:solidFill>
                <a:schemeClr val="tx1"/>
              </a:solidFill>
            </a:endParaRPr>
          </a:p>
        </p:txBody>
      </p:sp>
    </p:spTree>
    <p:extLst>
      <p:ext uri="{BB962C8B-B14F-4D97-AF65-F5344CB8AC3E}">
        <p14:creationId xmlns:p14="http://schemas.microsoft.com/office/powerpoint/2010/main" val="3882514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A0E970-E412-DFCD-0061-7CA92C47AD64}"/>
              </a:ext>
            </a:extLst>
          </p:cNvPr>
          <p:cNvPicPr>
            <a:picLocks noChangeAspect="1"/>
          </p:cNvPicPr>
          <p:nvPr/>
        </p:nvPicPr>
        <p:blipFill>
          <a:blip r:embed="rId2"/>
          <a:stretch>
            <a:fillRect/>
          </a:stretch>
        </p:blipFill>
        <p:spPr>
          <a:xfrm>
            <a:off x="0" y="520346"/>
            <a:ext cx="12192000" cy="5817307"/>
          </a:xfrm>
          <a:prstGeom prst="rect">
            <a:avLst/>
          </a:prstGeom>
        </p:spPr>
      </p:pic>
      <p:sp>
        <p:nvSpPr>
          <p:cNvPr id="6" name="Speech Bubble: Rectangle 5">
            <a:extLst>
              <a:ext uri="{FF2B5EF4-FFF2-40B4-BE49-F238E27FC236}">
                <a16:creationId xmlns:a16="http://schemas.microsoft.com/office/drawing/2014/main" id="{466412A9-D369-48DE-B1D9-56B1D187922B}"/>
              </a:ext>
            </a:extLst>
          </p:cNvPr>
          <p:cNvSpPr/>
          <p:nvPr/>
        </p:nvSpPr>
        <p:spPr>
          <a:xfrm>
            <a:off x="5564925" y="1172628"/>
            <a:ext cx="2994876" cy="503773"/>
          </a:xfrm>
          <a:prstGeom prst="wedgeRectCallout">
            <a:avLst>
              <a:gd name="adj1" fmla="val -64889"/>
              <a:gd name="adj2" fmla="val 18160"/>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Model Performance</a:t>
            </a:r>
          </a:p>
          <a:p>
            <a:pPr algn="just"/>
            <a:r>
              <a:rPr lang="en-US" altLang="zh-TW" sz="1000" dirty="0">
                <a:solidFill>
                  <a:schemeClr val="tx1"/>
                </a:solidFill>
              </a:rPr>
              <a:t>Click “Build Model” to automatically calculate RMSE, MAE, and R-squared for model evaluation.</a:t>
            </a:r>
            <a:endParaRPr lang="zh-TW" altLang="en-US" sz="1000" dirty="0">
              <a:solidFill>
                <a:schemeClr val="tx1"/>
              </a:solidFill>
            </a:endParaRPr>
          </a:p>
        </p:txBody>
      </p:sp>
      <p:sp>
        <p:nvSpPr>
          <p:cNvPr id="7" name="Speech Bubble: Rectangle 6">
            <a:extLst>
              <a:ext uri="{FF2B5EF4-FFF2-40B4-BE49-F238E27FC236}">
                <a16:creationId xmlns:a16="http://schemas.microsoft.com/office/drawing/2014/main" id="{9AE539E6-25D0-014E-7029-BD552F0E07DE}"/>
              </a:ext>
            </a:extLst>
          </p:cNvPr>
          <p:cNvSpPr/>
          <p:nvPr/>
        </p:nvSpPr>
        <p:spPr>
          <a:xfrm>
            <a:off x="2942224" y="2597146"/>
            <a:ext cx="1775675" cy="1189573"/>
          </a:xfrm>
          <a:prstGeom prst="wedgeRectCallout">
            <a:avLst>
              <a:gd name="adj1" fmla="val -2419"/>
              <a:gd name="adj2" fmla="val -9964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RMSE</a:t>
            </a:r>
          </a:p>
          <a:p>
            <a:r>
              <a:rPr lang="en-US" altLang="zh-TW" sz="1000" dirty="0">
                <a:solidFill>
                  <a:schemeClr val="tx1"/>
                </a:solidFill>
              </a:rPr>
              <a:t>Measures the overall prediction error, giving more weight to larger errors. Lower values indicate better model performance.</a:t>
            </a:r>
            <a:endParaRPr lang="zh-TW" altLang="en-US" sz="1000" dirty="0">
              <a:solidFill>
                <a:schemeClr val="tx1"/>
              </a:solidFill>
            </a:endParaRPr>
          </a:p>
        </p:txBody>
      </p:sp>
      <p:sp>
        <p:nvSpPr>
          <p:cNvPr id="8" name="Speech Bubble: Rectangle 7">
            <a:extLst>
              <a:ext uri="{FF2B5EF4-FFF2-40B4-BE49-F238E27FC236}">
                <a16:creationId xmlns:a16="http://schemas.microsoft.com/office/drawing/2014/main" id="{06367C44-056C-BD83-4C6A-5A53236B4AE4}"/>
              </a:ext>
            </a:extLst>
          </p:cNvPr>
          <p:cNvSpPr/>
          <p:nvPr/>
        </p:nvSpPr>
        <p:spPr>
          <a:xfrm>
            <a:off x="5094608" y="2597145"/>
            <a:ext cx="1775675" cy="1189573"/>
          </a:xfrm>
          <a:prstGeom prst="wedgeRectCallout">
            <a:avLst>
              <a:gd name="adj1" fmla="val -2419"/>
              <a:gd name="adj2" fmla="val -9964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MAE</a:t>
            </a:r>
          </a:p>
          <a:p>
            <a:r>
              <a:rPr lang="en-US" altLang="zh-TW" sz="1000" dirty="0">
                <a:solidFill>
                  <a:schemeClr val="tx1"/>
                </a:solidFill>
              </a:rPr>
              <a:t>Measures the average absolute difference between predicted and actual values. Lower values indicate more accurate predictions.</a:t>
            </a:r>
            <a:endParaRPr lang="zh-TW" altLang="en-US" sz="1000" dirty="0">
              <a:solidFill>
                <a:schemeClr val="tx1"/>
              </a:solidFill>
            </a:endParaRPr>
          </a:p>
        </p:txBody>
      </p:sp>
      <p:sp>
        <p:nvSpPr>
          <p:cNvPr id="9" name="Speech Bubble: Rectangle 8">
            <a:extLst>
              <a:ext uri="{FF2B5EF4-FFF2-40B4-BE49-F238E27FC236}">
                <a16:creationId xmlns:a16="http://schemas.microsoft.com/office/drawing/2014/main" id="{3D721CE4-AA81-E2BF-6211-036C34BA0B7E}"/>
              </a:ext>
            </a:extLst>
          </p:cNvPr>
          <p:cNvSpPr/>
          <p:nvPr/>
        </p:nvSpPr>
        <p:spPr>
          <a:xfrm>
            <a:off x="6986163" y="2597145"/>
            <a:ext cx="1775675" cy="994839"/>
          </a:xfrm>
          <a:prstGeom prst="wedgeRectCallout">
            <a:avLst>
              <a:gd name="adj1" fmla="val -2419"/>
              <a:gd name="adj2" fmla="val -9964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R-squared</a:t>
            </a:r>
          </a:p>
          <a:p>
            <a:r>
              <a:rPr lang="en-US" altLang="zh-TW" sz="1000" dirty="0">
                <a:solidFill>
                  <a:schemeClr val="tx1"/>
                </a:solidFill>
              </a:rPr>
              <a:t>Shows how well the model explains the variation in the target variable. Values closer to 1 indicate a better fit.</a:t>
            </a:r>
            <a:endParaRPr lang="zh-TW" altLang="en-US" sz="1000" dirty="0">
              <a:solidFill>
                <a:schemeClr val="tx1"/>
              </a:solidFill>
            </a:endParaRPr>
          </a:p>
        </p:txBody>
      </p:sp>
    </p:spTree>
    <p:extLst>
      <p:ext uri="{BB962C8B-B14F-4D97-AF65-F5344CB8AC3E}">
        <p14:creationId xmlns:p14="http://schemas.microsoft.com/office/powerpoint/2010/main" val="2415657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58E58-E8F9-9A4C-4E76-1C4379F9F71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646B927-C728-EEFC-26DD-31A90D958E73}"/>
              </a:ext>
            </a:extLst>
          </p:cNvPr>
          <p:cNvPicPr>
            <a:picLocks noChangeAspect="1"/>
          </p:cNvPicPr>
          <p:nvPr/>
        </p:nvPicPr>
        <p:blipFill>
          <a:blip r:embed="rId2"/>
          <a:stretch>
            <a:fillRect/>
          </a:stretch>
        </p:blipFill>
        <p:spPr>
          <a:xfrm>
            <a:off x="0" y="520346"/>
            <a:ext cx="12192000" cy="5817307"/>
          </a:xfrm>
          <a:prstGeom prst="rect">
            <a:avLst/>
          </a:prstGeom>
        </p:spPr>
      </p:pic>
      <p:sp>
        <p:nvSpPr>
          <p:cNvPr id="2" name="Speech Bubble: Rectangle 1">
            <a:extLst>
              <a:ext uri="{FF2B5EF4-FFF2-40B4-BE49-F238E27FC236}">
                <a16:creationId xmlns:a16="http://schemas.microsoft.com/office/drawing/2014/main" id="{18EE2C6E-9C5A-DDBF-9591-E3854AB55036}"/>
              </a:ext>
            </a:extLst>
          </p:cNvPr>
          <p:cNvSpPr/>
          <p:nvPr/>
        </p:nvSpPr>
        <p:spPr>
          <a:xfrm>
            <a:off x="3329723" y="6176433"/>
            <a:ext cx="4078610" cy="622300"/>
          </a:xfrm>
          <a:prstGeom prst="wedgeRectCallout">
            <a:avLst>
              <a:gd name="adj1" fmla="val -4092"/>
              <a:gd name="adj2" fmla="val -70612"/>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Predicted vs Actual on Test Data</a:t>
            </a:r>
          </a:p>
          <a:p>
            <a:r>
              <a:rPr lang="en-US" altLang="zh-TW" sz="1000" dirty="0">
                <a:solidFill>
                  <a:schemeClr val="tx1"/>
                </a:solidFill>
              </a:rPr>
              <a:t>Compares predicted churn probability with actual churn probability on the test dataset. Points closer to the red diagonal line indicate better prediction accuracy.</a:t>
            </a:r>
            <a:endParaRPr lang="zh-TW" altLang="en-US" sz="1000" dirty="0">
              <a:solidFill>
                <a:schemeClr val="tx1"/>
              </a:solidFill>
            </a:endParaRPr>
          </a:p>
        </p:txBody>
      </p:sp>
      <p:sp>
        <p:nvSpPr>
          <p:cNvPr id="3" name="Speech Bubble: Rectangle 2">
            <a:extLst>
              <a:ext uri="{FF2B5EF4-FFF2-40B4-BE49-F238E27FC236}">
                <a16:creationId xmlns:a16="http://schemas.microsoft.com/office/drawing/2014/main" id="{859DA2D0-9C51-669A-213E-529C8BA589D3}"/>
              </a:ext>
            </a:extLst>
          </p:cNvPr>
          <p:cNvSpPr/>
          <p:nvPr/>
        </p:nvSpPr>
        <p:spPr>
          <a:xfrm>
            <a:off x="7944059" y="6176432"/>
            <a:ext cx="4163274" cy="622299"/>
          </a:xfrm>
          <a:prstGeom prst="wedgeRectCallout">
            <a:avLst>
              <a:gd name="adj1" fmla="val -1946"/>
              <a:gd name="adj2" fmla="val -86839"/>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Feature Importance of Decision Tree</a:t>
            </a:r>
          </a:p>
          <a:p>
            <a:r>
              <a:rPr lang="en-US" altLang="zh-TW" sz="1000" dirty="0">
                <a:solidFill>
                  <a:schemeClr val="tx1"/>
                </a:solidFill>
              </a:rPr>
              <a:t>Shows the top 10 most important variables used in the random forest. Higher values indicate that a variable contributes more to the model’s predictions.</a:t>
            </a:r>
            <a:endParaRPr lang="zh-TW" altLang="en-US" sz="1000" dirty="0">
              <a:solidFill>
                <a:schemeClr val="tx1"/>
              </a:solidFill>
            </a:endParaRPr>
          </a:p>
        </p:txBody>
      </p:sp>
      <p:sp>
        <p:nvSpPr>
          <p:cNvPr id="4" name="Speech Bubble: Rectangle 3">
            <a:extLst>
              <a:ext uri="{FF2B5EF4-FFF2-40B4-BE49-F238E27FC236}">
                <a16:creationId xmlns:a16="http://schemas.microsoft.com/office/drawing/2014/main" id="{CF68F5A3-7BF8-677D-204E-9B27675CAD60}"/>
              </a:ext>
            </a:extLst>
          </p:cNvPr>
          <p:cNvSpPr/>
          <p:nvPr/>
        </p:nvSpPr>
        <p:spPr>
          <a:xfrm>
            <a:off x="5287848" y="2355852"/>
            <a:ext cx="2994876" cy="812800"/>
          </a:xfrm>
          <a:prstGeom prst="wedgeRectCallout">
            <a:avLst>
              <a:gd name="adj1" fmla="val -73371"/>
              <a:gd name="adj2" fmla="val 20500"/>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Model Visualization</a:t>
            </a:r>
          </a:p>
          <a:p>
            <a:r>
              <a:rPr lang="en-US" altLang="zh-TW" sz="1000" dirty="0">
                <a:solidFill>
                  <a:schemeClr val="tx1"/>
                </a:solidFill>
              </a:rPr>
              <a:t>Displays the trained random forest, prediction accuracy on test data, and the relative importance of model features.</a:t>
            </a:r>
            <a:endParaRPr lang="zh-TW" altLang="en-US" sz="1000" dirty="0">
              <a:solidFill>
                <a:schemeClr val="tx1"/>
              </a:solidFill>
            </a:endParaRPr>
          </a:p>
        </p:txBody>
      </p:sp>
    </p:spTree>
    <p:extLst>
      <p:ext uri="{BB962C8B-B14F-4D97-AF65-F5344CB8AC3E}">
        <p14:creationId xmlns:p14="http://schemas.microsoft.com/office/powerpoint/2010/main" val="124127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24FB19-3166-7064-7B07-09AFC48A69A7}"/>
              </a:ext>
            </a:extLst>
          </p:cNvPr>
          <p:cNvPicPr>
            <a:picLocks noChangeAspect="1"/>
          </p:cNvPicPr>
          <p:nvPr/>
        </p:nvPicPr>
        <p:blipFill>
          <a:blip r:embed="rId2"/>
          <a:stretch>
            <a:fillRect/>
          </a:stretch>
        </p:blipFill>
        <p:spPr>
          <a:xfrm>
            <a:off x="0" y="480776"/>
            <a:ext cx="12192000" cy="5896448"/>
          </a:xfrm>
          <a:prstGeom prst="rect">
            <a:avLst/>
          </a:prstGeom>
        </p:spPr>
      </p:pic>
      <p:sp>
        <p:nvSpPr>
          <p:cNvPr id="6" name="Speech Bubble: Rectangle 5">
            <a:extLst>
              <a:ext uri="{FF2B5EF4-FFF2-40B4-BE49-F238E27FC236}">
                <a16:creationId xmlns:a16="http://schemas.microsoft.com/office/drawing/2014/main" id="{D193E326-27BE-2EFF-8B39-511C5161B61F}"/>
              </a:ext>
            </a:extLst>
          </p:cNvPr>
          <p:cNvSpPr/>
          <p:nvPr/>
        </p:nvSpPr>
        <p:spPr>
          <a:xfrm>
            <a:off x="6377725" y="2306027"/>
            <a:ext cx="2994876" cy="726015"/>
          </a:xfrm>
          <a:prstGeom prst="wedgeRectCallout">
            <a:avLst>
              <a:gd name="adj1" fmla="val -71674"/>
              <a:gd name="adj2" fmla="val 23671"/>
            </a:avLst>
          </a:prstGeom>
          <a:solidFill>
            <a:schemeClr val="accent2">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Scenario Prediction</a:t>
            </a:r>
          </a:p>
          <a:p>
            <a:r>
              <a:rPr lang="en-US" altLang="zh-TW" sz="1000" dirty="0">
                <a:solidFill>
                  <a:schemeClr val="tx1"/>
                </a:solidFill>
              </a:rPr>
              <a:t>Allows users to input values for the selected variables, generate a predicted churn probability.</a:t>
            </a:r>
            <a:endParaRPr lang="zh-TW" altLang="en-US" sz="1000" dirty="0">
              <a:solidFill>
                <a:schemeClr val="tx1"/>
              </a:solidFill>
            </a:endParaRPr>
          </a:p>
        </p:txBody>
      </p:sp>
      <p:sp>
        <p:nvSpPr>
          <p:cNvPr id="7" name="Speech Bubble: Rectangle 6">
            <a:extLst>
              <a:ext uri="{FF2B5EF4-FFF2-40B4-BE49-F238E27FC236}">
                <a16:creationId xmlns:a16="http://schemas.microsoft.com/office/drawing/2014/main" id="{9CB374DC-37D6-2084-3BAD-D6B21C6924AC}"/>
              </a:ext>
            </a:extLst>
          </p:cNvPr>
          <p:cNvSpPr/>
          <p:nvPr/>
        </p:nvSpPr>
        <p:spPr>
          <a:xfrm>
            <a:off x="4625124" y="5130799"/>
            <a:ext cx="1862666" cy="663004"/>
          </a:xfrm>
          <a:prstGeom prst="wedgeRectCallout">
            <a:avLst>
              <a:gd name="adj1" fmla="val -48265"/>
              <a:gd name="adj2" fmla="val -108877"/>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Input Scenario</a:t>
            </a:r>
          </a:p>
          <a:p>
            <a:r>
              <a:rPr lang="en-US" altLang="zh-TW" sz="1000" dirty="0">
                <a:solidFill>
                  <a:schemeClr val="tx1"/>
                </a:solidFill>
              </a:rPr>
              <a:t>Enter values for the variables used in the current model.</a:t>
            </a:r>
            <a:endParaRPr lang="zh-TW" altLang="en-US" sz="800" dirty="0">
              <a:solidFill>
                <a:schemeClr val="tx1"/>
              </a:solidFill>
            </a:endParaRPr>
          </a:p>
        </p:txBody>
      </p:sp>
      <p:sp>
        <p:nvSpPr>
          <p:cNvPr id="8" name="Speech Bubble: Rectangle 7">
            <a:extLst>
              <a:ext uri="{FF2B5EF4-FFF2-40B4-BE49-F238E27FC236}">
                <a16:creationId xmlns:a16="http://schemas.microsoft.com/office/drawing/2014/main" id="{D5113FAC-A548-0F4E-AC52-2A078AE8A33F}"/>
              </a:ext>
            </a:extLst>
          </p:cNvPr>
          <p:cNvSpPr/>
          <p:nvPr/>
        </p:nvSpPr>
        <p:spPr>
          <a:xfrm>
            <a:off x="8784582" y="3418416"/>
            <a:ext cx="1862666" cy="663004"/>
          </a:xfrm>
          <a:prstGeom prst="wedgeRectCallout">
            <a:avLst>
              <a:gd name="adj1" fmla="val -79174"/>
              <a:gd name="adj2" fmla="val 27764"/>
            </a:avLst>
          </a:prstGeom>
          <a:solidFill>
            <a:schemeClr val="accent6">
              <a:lumMod val="20000"/>
              <a:lumOff val="80000"/>
            </a:schemeClr>
          </a:solidFill>
          <a:ln>
            <a:solidFill>
              <a:schemeClr val="accent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TW" sz="1100" b="1" dirty="0">
                <a:solidFill>
                  <a:schemeClr val="tx1"/>
                </a:solidFill>
              </a:rPr>
              <a:t>Prediction Result</a:t>
            </a:r>
          </a:p>
          <a:p>
            <a:r>
              <a:rPr lang="en-US" altLang="zh-TW" sz="1000" dirty="0">
                <a:solidFill>
                  <a:schemeClr val="tx1"/>
                </a:solidFill>
              </a:rPr>
              <a:t>Displays the predicted churn probability for the selected input scenario.</a:t>
            </a:r>
            <a:endParaRPr lang="zh-TW" altLang="en-US" sz="800" dirty="0">
              <a:solidFill>
                <a:schemeClr val="tx1"/>
              </a:solidFill>
            </a:endParaRPr>
          </a:p>
        </p:txBody>
      </p:sp>
    </p:spTree>
    <p:extLst>
      <p:ext uri="{BB962C8B-B14F-4D97-AF65-F5344CB8AC3E}">
        <p14:creationId xmlns:p14="http://schemas.microsoft.com/office/powerpoint/2010/main" val="1311413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168</TotalTime>
  <Words>868</Words>
  <Application>Microsoft Office PowerPoint</Application>
  <PresentationFormat>Widescreen</PresentationFormat>
  <Paragraphs>70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SHIH Hua-hsuan</dc:creator>
  <cp:lastModifiedBy>SHIH Hua-hsuan</cp:lastModifiedBy>
  <cp:revision>8</cp:revision>
  <dcterms:created xsi:type="dcterms:W3CDTF">2026-03-13T12:12:57Z</dcterms:created>
  <dcterms:modified xsi:type="dcterms:W3CDTF">2026-03-14T17:20:20Z</dcterms:modified>
</cp:coreProperties>
</file>